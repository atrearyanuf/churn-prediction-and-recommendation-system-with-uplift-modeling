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2408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and</a:t>
            </a:r>
            <a:endParaRPr lang="en-US" sz="4400" dirty="0"/>
          </a:p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System</a:t>
            </a:r>
            <a:endParaRPr lang="en-US" sz="4400" dirty="0"/>
          </a:p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Uplift Modeling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Mid-Project Review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Aryan Atre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atrearyan@ufl.edu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CAI6826 - Spring 2026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Florida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955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 is costly for telecom companies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models only predict 'who will churn' but not 'what intervention works'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personalized, data-driven retention strategies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7955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high-accuracy churn prediction model (Target: AUC ≥ 0.85)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uplift modeling to estimate intervention effectiveness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personalized retention recommendations for at-risk customers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explainable predictions using SHAP analysis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10,247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56032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1554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38328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256032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09360" y="1554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4.45%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0936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Rate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2743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Composition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31520" y="3200400"/>
            <a:ext cx="7955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PC1-PC160: 160 numeric principal components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FACTOR1-FACTOR18: 18 categorical features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column (t): Binary intervention flag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column (y): Binary churn indicator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Results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84048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Development Process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Logistic Regression (AUC: 0.72)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1: Random Forest (AUC: 0.821)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2: XGBoost optimized (AUC: 0.8386) ✓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with 5-fold cross-validation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188720"/>
          <a:ext cx="4114800" cy="149352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(Best)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Achievements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31520" y="3017520"/>
            <a:ext cx="7955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Cross-validation: Mean AUC = 0.863 ± 0.003 (highly consistent performance)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achieved 0.8386 AUC - only 1.4% from target of 0.85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affected by severe class imbalance (4.45% churn rate) - expected behavior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optimization: learning rate, max depth, subsample ratio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 Comparison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mnt/user-data/uploads/1773362029540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models demonstrate strong discriminative ability with AUC &gt; 0.81, confirming robust churn prediction.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- XGBoost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mnt/user-data/uploads/1773362014400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280160"/>
            <a:ext cx="548640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True Negative rate (2,296) demonstrates excellent identification of customers who will stay.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Uplift Modeling Results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371600"/>
          <a:ext cx="6400800" cy="109728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Qini Coefficient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Uplift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T-Learner (Best)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S-Learner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31520" y="3200400"/>
            <a:ext cx="7955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identified customers who respond positively to interventions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Qini = 0.142 &gt; 0.1 threshold ✓ (Target achieved!)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T-Learner outperforms S-Learner for heterogeneous treatment effects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personalized recommendations for 2,049 customers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Uplift Curves: T-Learner vs S-Learner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mnt/user-data/uploads/1773362043142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2926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significantly outperform random targeting. The blue area shows positive uplift achieved.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97280" y="13716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1371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18288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scaling, encoding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86000" y="2788920"/>
            <a:ext cx="365760" cy="0"/>
          </a:xfrm>
          <a:prstGeom prst="line">
            <a:avLst/>
          </a:prstGeom>
          <a:noFill/>
          <a:ln w="38100">
            <a:solidFill>
              <a:srgbClr val="02809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91840" y="13716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91840" y="1371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651760" y="2103120"/>
            <a:ext cx="18288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5176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43200" y="26060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XGBoost, LightGBM,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80560" y="2788920"/>
            <a:ext cx="365760" cy="0"/>
          </a:xfrm>
          <a:prstGeom prst="line">
            <a:avLst/>
          </a:prstGeom>
          <a:noFill/>
          <a:ln w="38100">
            <a:solidFill>
              <a:srgbClr val="02809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0" y="13716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0" y="1371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846320" y="2103120"/>
            <a:ext cx="18288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Uplift Modeling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26060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T-Learner, S-Learner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(CausalML)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675120" y="2788920"/>
            <a:ext cx="365760" cy="0"/>
          </a:xfrm>
          <a:prstGeom prst="line">
            <a:avLst/>
          </a:prstGeom>
          <a:noFill/>
          <a:ln w="38100">
            <a:solidFill>
              <a:srgbClr val="02809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680960" y="13716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680960" y="1371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7040880" y="2103120"/>
            <a:ext cx="18288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04088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132320" y="26060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actions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customer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with: Python, XGBoost, LightGBM, scikit-learn, CausalML (Uber), SHAP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 Dashboard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mnt/user-data/uploads/1773361904448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80160"/>
            <a:ext cx="859536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 translating ML predictions into executive-level ROI analysis with real-time calculations.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from Original Proposal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Change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Original: Generic churn datasets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Current: Orange Belgium dataset</a:t>
            </a:r>
            <a:endParaRPr lang="en-US" sz="1300" dirty="0"/>
          </a:p>
          <a:p>
            <a:pPr marL="685800" lvl="1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Reason: Built-in treatment variable enables direct uplift modeling validation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0" y="13716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Components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37760" y="201168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cross-validation (5-fold stratified)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uplift models (T-Learner &amp; S-Learner)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uplift visualization functions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business dashboard for ROI analysis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011680" y="15087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class imbalance (4.45% churn)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011680" y="18288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splits, optimal threshold tuning, focus on AUC over accuracy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82296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11680" y="2606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CausalML library compatibility issues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926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011680" y="29260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metric calculations, custom uplift curves, flattened array handling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703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11680" y="37033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encoding for uplift models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023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11680" y="40233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LabelEncoder for FACTOR features before model training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to Completion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188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Est.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 Analysis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Additional Visualizations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 hours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Segmentation Analysis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 hours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Report (15-20 pages)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8-10 hours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 Slides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 hours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8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Documentation &amp; Cleanup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 hours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82880" cy="1828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&amp; EDA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0" y="1371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82880" cy="1828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Development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0" y="1920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182880" cy="1828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2468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Uplift Modeling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0" y="2468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182880" cy="1828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3017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&amp; Visualization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0" y="3017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182880" cy="18288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3566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Report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3566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182880" cy="18288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4400" y="4114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0" y="4114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Completion: End of March 2026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 Summary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560320" cy="2011680"/>
          </a:xfrm>
          <a:prstGeom prst="rect">
            <a:avLst/>
          </a:prstGeom>
          <a:solidFill>
            <a:srgbClr val="FFFFFF"/>
          </a:solidFill>
          <a:ln w="381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37160" cy="201168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0.8386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AUC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from target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2004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83280" y="1645920"/>
            <a:ext cx="2560320" cy="2011680"/>
          </a:xfrm>
          <a:prstGeom prst="rect">
            <a:avLst/>
          </a:prstGeom>
          <a:solidFill>
            <a:srgbClr val="FFFFFF"/>
          </a:solidFill>
          <a:ln w="381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83280" y="1645920"/>
            <a:ext cx="137160" cy="201168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66160" y="19202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566160" y="2514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Qini Coefficient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&gt; 0.1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66160" y="32004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1645920"/>
            <a:ext cx="2560320" cy="2011680"/>
          </a:xfrm>
          <a:prstGeom prst="rect">
            <a:avLst/>
          </a:prstGeom>
          <a:solidFill>
            <a:srgbClr val="FFFFFF"/>
          </a:solidFill>
          <a:ln w="38100">
            <a:solidFill>
              <a:srgbClr val="00A896"/>
            </a:solidFill>
            <a:prstDash val="solid"/>
          </a:ln>
          <a:effectLst>
            <a:outerShdw blurRad="76200" dist="25400" dir="162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09360" y="1645920"/>
            <a:ext cx="137160" cy="201168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92240" y="19202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2,049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492240" y="2514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92240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intervention types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32004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280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Aryan Atre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atrearyan@ufl.edu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github.com/atrearyanuf/Churn-Prediction-and-Recommendation-System-with-Uplift-Modeling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690</Words>
  <Application>Microsoft Macintosh PowerPoint</Application>
  <PresentationFormat>On-screen Show (16:9)</PresentationFormat>
  <Paragraphs>198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Churn Prediction &amp; Uplift Modeling - Mid Project Review</dc:title>
  <dc:subject>PptxGenJS Presentation</dc:subject>
  <dc:creator>Aryan Atre</dc:creator>
  <cp:lastModifiedBy>Atre, Aryan R.</cp:lastModifiedBy>
  <cp:revision>2</cp:revision>
  <dcterms:created xsi:type="dcterms:W3CDTF">2026-03-13T00:43:41Z</dcterms:created>
  <dcterms:modified xsi:type="dcterms:W3CDTF">2026-03-13T00:51:21Z</dcterms:modified>
</cp:coreProperties>
</file>